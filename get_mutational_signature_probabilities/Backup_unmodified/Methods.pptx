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6327"/>
  </p:normalViewPr>
  <p:slideViewPr>
    <p:cSldViewPr snapToGrid="0">
      <p:cViewPr varScale="1">
        <p:scale>
          <a:sx n="128" d="100"/>
          <a:sy n="128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2355-1A55-9B4B-9FAC-66219095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0B8D7-FAC6-0326-C0FE-263DD3660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1032-E7A1-BB00-C8EC-378189FA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0A34C-98E9-B78F-4A68-8C7A7C1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A667C-FF88-281A-F201-2635F9C0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5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9A41-53FE-384A-8317-2C8916B0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10AB-255E-65AD-AD86-EDEE95217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B9FD-43AD-819B-0D0C-F779C68D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2F9C4-5789-0B2C-8943-C0BC9D5F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1A83F-9B30-5C1A-484F-B6FD1D16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1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8A42-9A66-1A3C-CB7A-4EA8528F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3F7BE-D03C-6433-E47F-0F3F87476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2B336-8F43-8FD4-E094-C1237847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64B04-E61A-C533-1984-C6B10F09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7559D-2138-11AB-92E4-C7F249E6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5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FA04-6C9D-F12D-B12D-9FE6CE9C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909E-90A3-B66D-95A6-54AD341FB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C9919-08F3-7A25-D71B-5E71F7726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02574-0C93-1A2F-4B4B-77E680D6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ABF51-BF0D-A87A-B5AB-775065E0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11F38-2716-0ACC-D907-CF4A822B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9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29BE-C2A0-E062-02AB-8125FB74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841A-8F8F-AE47-CF94-B74260FD1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687F6-111A-FABC-8D31-A99E5FB96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9394D-1D30-48B3-F9A4-A60383BE3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8BB7D-5D18-23D9-9AC4-4772454DB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869B9-3087-1939-C3BB-3EE5A41B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3FAB1-32C8-E381-EBC3-328F790E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5EF55-01E0-D371-10B1-6BE49394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5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6FCF-8913-4C41-C1C0-66D48671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F246D-7F9B-88D8-C107-24893E20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25161-4CAC-72B4-53EF-58081773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C8BEB-7017-14A0-7A84-6606650E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C74D9-B0B5-89DD-5361-82C65325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69854-4D55-1DC3-F1C4-A02E3BF3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6A42-FDB7-D7DC-C1BD-C6849E1C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3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C4A2-F698-7475-C8FA-531F944A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B1BF-4143-611D-0684-FD84368FC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3B4A3-D9D8-C6B3-5B8A-422E2C41F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D2608-18A3-A283-88DE-F27CE045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449EA-A57E-1D9B-5BB6-CFCE6C98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ECF2D-9B3E-9595-5FB4-EB164519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9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3BD9-1540-1972-01F9-872FAAF6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EC493-C930-716F-D336-02F18C11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ABF04-EE25-C9EA-60E8-F14E49074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1023C-ED38-2C36-4CFC-3CA6F21A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6EA4D-F0FE-3704-A1C1-AD763F23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4A80E-3662-01C0-DCD8-C3C711FF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0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CB47-5F79-D0C9-96E6-09DF6E0A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F24A4-24E9-1D8A-2372-D168F3C8C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51498-FDF7-6A0F-0EA1-5143D49F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7C98-6BE3-9C03-E0B8-2889A8F3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77E64-84C2-3795-F11D-80D5C5D1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3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38326-6824-210E-C377-FD45F8B0A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E0A62-ABEB-75A4-7D16-A7CB77D3F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84C8C-4452-C7E8-3FF1-F3C20900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6CD17-AB63-603E-5044-E3863A36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1E5FD-4CBF-2DA4-5BC7-1B3CC464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A6685D-19CF-839B-1A9E-AC7DB9BB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612BA-3BD0-41AD-0436-405B0F0F8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D2F5B-ADDA-6076-EF75-42905BA40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9A6A3-B114-7241-8E73-4527ABB62F22}" type="datetimeFigureOut">
              <a:rPr lang="en-US" smtClean="0"/>
              <a:t>2/14/23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9FF54-C810-83D7-9925-257A29106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11567-2B8A-E28F-2CCA-8ACFD5905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C786D-273E-924A-9647-8A04CD079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4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B1EA-0DA8-4BA5-0885-E24B9540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+mn-lt"/>
              </a:rPr>
              <a:t>KRAS Mutational Probability Methods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13909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BB19-4138-48D9-678D-E4C82BFD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68"/>
            <a:ext cx="10515600" cy="45680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+mn-lt"/>
              </a:rPr>
              <a:t>Data and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04321-6AB6-F350-652B-8D2FDADBB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942"/>
            <a:ext cx="10515600" cy="5969286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SNS Data</a:t>
            </a:r>
            <a:r>
              <a:rPr lang="en-US" sz="2000" dirty="0"/>
              <a:t>: GRCh38 COSMIC version 3 Single Base Substitution Probability table (96 single base substitutions (N</a:t>
            </a:r>
            <a:r>
              <a:rPr lang="en-US" sz="2000" baseline="-25000" dirty="0"/>
              <a:t>1</a:t>
            </a:r>
            <a:r>
              <a:rPr lang="en-US" sz="2000" dirty="0"/>
              <a:t>[N</a:t>
            </a:r>
            <a:r>
              <a:rPr lang="en-US" sz="2000" baseline="-25000" dirty="0"/>
              <a:t>2</a:t>
            </a:r>
            <a:r>
              <a:rPr lang="en-US" sz="2000" dirty="0"/>
              <a:t>&gt;N</a:t>
            </a:r>
            <a:r>
              <a:rPr lang="en-US" sz="2000" baseline="-25000" dirty="0"/>
              <a:t>2’</a:t>
            </a:r>
            <a:r>
              <a:rPr lang="en-US" sz="2000" dirty="0"/>
              <a:t>]N</a:t>
            </a:r>
            <a:r>
              <a:rPr lang="en-US" sz="2000" baseline="-25000" dirty="0"/>
              <a:t>3</a:t>
            </a:r>
            <a:r>
              <a:rPr lang="en-US" sz="2000" dirty="0"/>
              <a:t>) by 78 Signatures)</a:t>
            </a:r>
          </a:p>
          <a:p>
            <a:r>
              <a:rPr lang="en-US" sz="2000" b="1" dirty="0"/>
              <a:t>DNS Data</a:t>
            </a:r>
            <a:r>
              <a:rPr lang="en-US" sz="2000" dirty="0"/>
              <a:t>: GRCh38 COSMIC version 3 Double Base Substitution Probability table (78 double base substitutions (N</a:t>
            </a:r>
            <a:r>
              <a:rPr lang="en-US" sz="2000" baseline="-25000" dirty="0"/>
              <a:t>1</a:t>
            </a:r>
            <a:r>
              <a:rPr lang="en-US" sz="2000" dirty="0"/>
              <a:t>N</a:t>
            </a:r>
            <a:r>
              <a:rPr lang="en-US" sz="2000" baseline="-25000" dirty="0"/>
              <a:t>2</a:t>
            </a:r>
            <a:r>
              <a:rPr lang="en-US" sz="2000" dirty="0"/>
              <a:t>&gt;N</a:t>
            </a:r>
            <a:r>
              <a:rPr lang="en-US" sz="2000" baseline="-25000" dirty="0"/>
              <a:t>1’</a:t>
            </a:r>
            <a:r>
              <a:rPr lang="en-US" sz="2000" dirty="0"/>
              <a:t>N</a:t>
            </a:r>
            <a:r>
              <a:rPr lang="en-US" sz="2000" baseline="-25000" dirty="0"/>
              <a:t>2’</a:t>
            </a:r>
            <a:r>
              <a:rPr lang="en-US" sz="2000" dirty="0"/>
              <a:t>) by 11 Signatures)</a:t>
            </a:r>
          </a:p>
          <a:p>
            <a:r>
              <a:rPr lang="en-US" sz="2000" b="1" dirty="0"/>
              <a:t>Hamming Distance</a:t>
            </a:r>
            <a:r>
              <a:rPr lang="en-US" sz="2000" dirty="0"/>
              <a:t>: the number of positions at which an individual position is different between strings (minimum number of substitutions to change one string into another)</a:t>
            </a:r>
            <a:endParaRPr lang="en-US" sz="2000" b="1" dirty="0"/>
          </a:p>
          <a:p>
            <a:r>
              <a:rPr lang="en-US" sz="2000" b="1" dirty="0"/>
              <a:t>Non-Adjacent DNS</a:t>
            </a:r>
            <a:r>
              <a:rPr lang="en-US" sz="2000" dirty="0"/>
              <a:t>: situation when two nucleotides change in a codon but are non-adjacent (N</a:t>
            </a:r>
            <a:r>
              <a:rPr lang="en-US" sz="2000" baseline="-25000" dirty="0"/>
              <a:t>1</a:t>
            </a:r>
            <a:r>
              <a:rPr lang="en-US" sz="2000" dirty="0"/>
              <a:t>N</a:t>
            </a:r>
            <a:r>
              <a:rPr lang="en-US" sz="2000" baseline="-25000" dirty="0"/>
              <a:t>2</a:t>
            </a:r>
            <a:r>
              <a:rPr lang="en-US" sz="2000" dirty="0"/>
              <a:t>N</a:t>
            </a:r>
            <a:r>
              <a:rPr lang="en-US" sz="2000" baseline="-25000" dirty="0"/>
              <a:t>3</a:t>
            </a:r>
            <a:r>
              <a:rPr lang="en-US" sz="2000" dirty="0"/>
              <a:t>&gt; N</a:t>
            </a:r>
            <a:r>
              <a:rPr lang="en-US" sz="2000" baseline="-25000" dirty="0"/>
              <a:t>1’</a:t>
            </a:r>
            <a:r>
              <a:rPr lang="en-US" sz="2000" dirty="0"/>
              <a:t>N</a:t>
            </a:r>
            <a:r>
              <a:rPr lang="en-US" sz="2000" baseline="-25000" dirty="0"/>
              <a:t>2</a:t>
            </a:r>
            <a:r>
              <a:rPr lang="en-US" sz="2000" dirty="0"/>
              <a:t>N</a:t>
            </a:r>
            <a:r>
              <a:rPr lang="en-US" sz="2000" baseline="-25000" dirty="0"/>
              <a:t>3’</a:t>
            </a:r>
            <a:r>
              <a:rPr lang="en-US" sz="2000" dirty="0"/>
              <a:t>)</a:t>
            </a:r>
          </a:p>
          <a:p>
            <a:r>
              <a:rPr lang="en-US" sz="2000" b="1" dirty="0"/>
              <a:t>Adjacent DNS</a:t>
            </a:r>
            <a:r>
              <a:rPr lang="en-US" sz="2000" dirty="0"/>
              <a:t>: situation when two nucleotides change in a codon and are adjacent (N</a:t>
            </a:r>
            <a:r>
              <a:rPr lang="en-US" sz="2000" baseline="-25000" dirty="0"/>
              <a:t>1</a:t>
            </a:r>
            <a:r>
              <a:rPr lang="en-US" sz="2000" dirty="0"/>
              <a:t>N</a:t>
            </a:r>
            <a:r>
              <a:rPr lang="en-US" sz="2000" baseline="-25000" dirty="0"/>
              <a:t>2</a:t>
            </a:r>
            <a:r>
              <a:rPr lang="en-US" sz="2000" dirty="0"/>
              <a:t>N</a:t>
            </a:r>
            <a:r>
              <a:rPr lang="en-US" sz="2000" baseline="-25000" dirty="0"/>
              <a:t>3</a:t>
            </a:r>
            <a:r>
              <a:rPr lang="en-US" sz="2000" dirty="0"/>
              <a:t>&gt;N</a:t>
            </a:r>
            <a:r>
              <a:rPr lang="en-US" sz="2000" baseline="-25000" dirty="0"/>
              <a:t>1</a:t>
            </a:r>
            <a:r>
              <a:rPr lang="en-US" sz="2000" dirty="0"/>
              <a:t>N</a:t>
            </a:r>
            <a:r>
              <a:rPr lang="en-US" sz="2000" baseline="-25000" dirty="0"/>
              <a:t>2’</a:t>
            </a:r>
            <a:r>
              <a:rPr lang="en-US" sz="2000" dirty="0"/>
              <a:t>N</a:t>
            </a:r>
            <a:r>
              <a:rPr lang="en-US" sz="2000" baseline="-25000" dirty="0"/>
              <a:t>3’</a:t>
            </a:r>
            <a:r>
              <a:rPr lang="en-US" sz="2000" dirty="0"/>
              <a:t>)</a:t>
            </a:r>
          </a:p>
          <a:p>
            <a:r>
              <a:rPr lang="en-US" sz="2000" b="1" dirty="0"/>
              <a:t>Pseudo-codon</a:t>
            </a:r>
            <a:r>
              <a:rPr lang="en-US" sz="2000" dirty="0"/>
              <a:t>: the trinucleotide sequence which centers the nucleotide of interest</a:t>
            </a:r>
            <a:endParaRPr lang="en-US" sz="2000" b="1" dirty="0"/>
          </a:p>
          <a:p>
            <a:pPr lvl="2"/>
            <a:endParaRPr lang="en-US" dirty="0"/>
          </a:p>
          <a:p>
            <a:pPr lvl="2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987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F98E-A3EF-300D-5D7C-FF88FA74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SNS and Non-Adjacent DNS Probability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D5DCF-CF7A-4CB2-123F-6E5226ABE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843"/>
            <a:ext cx="10515600" cy="526110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Iterate over each codon and identify all possible amino acid changes which are a hamming distance of 2 away and </a:t>
            </a:r>
            <a:r>
              <a:rPr lang="en-US" sz="2000" b="1" dirty="0"/>
              <a:t>not</a:t>
            </a:r>
            <a:r>
              <a:rPr lang="en-US" sz="2000" dirty="0"/>
              <a:t> an adjacent nucleotide change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Iterate over each of the mutant codons identified in (1) and identify the positions in the codon which differ from wild-type (</a:t>
            </a:r>
            <a:r>
              <a:rPr lang="en-US" sz="2000" b="1" dirty="0"/>
              <a:t>none will be adjacent</a:t>
            </a:r>
            <a:r>
              <a:rPr lang="en-US" sz="20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Iterate over the positions of change in each codon and locate the </a:t>
            </a:r>
            <a:r>
              <a:rPr lang="en-US" sz="2000" i="1" dirty="0"/>
              <a:t>pseudo-codon </a:t>
            </a:r>
            <a:r>
              <a:rPr lang="en-US" sz="2000" dirty="0"/>
              <a:t>around the changing nucleotide which centers the changing nucleotide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Locate probability from SBS table for nucleotide change from WT pseudo-codon to mutant pseudo-codon and add to current tally for amino acid change</a:t>
            </a:r>
          </a:p>
          <a:p>
            <a:pPr lvl="1"/>
            <a:r>
              <a:rPr lang="en-US" sz="2000" dirty="0"/>
              <a:t>If there are multiple positions of change (meaning non-adjacent DNS), multiply probabilities of both SNS events</a:t>
            </a:r>
          </a:p>
          <a:p>
            <a:pPr lvl="1"/>
            <a:r>
              <a:rPr lang="en-US" sz="2000" dirty="0"/>
              <a:t>If the pseudo-codon change is not in the table, take the reverse complement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Sum mutational probabilities per signature for each amino acid change</a:t>
            </a:r>
          </a:p>
        </p:txBody>
      </p:sp>
    </p:spTree>
    <p:extLst>
      <p:ext uri="{BB962C8B-B14F-4D97-AF65-F5344CB8AC3E}">
        <p14:creationId xmlns:p14="http://schemas.microsoft.com/office/powerpoint/2010/main" val="1503327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F98E-A3EF-300D-5D7C-FF88FA74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Adjacent DNS Probability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D5DCF-CF7A-4CB2-123F-6E5226ABE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843"/>
            <a:ext cx="10515600" cy="526110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Iterate over each codon and identify all possible amino acid changes which are a hamming distance of 2 away </a:t>
            </a:r>
            <a:r>
              <a:rPr lang="en-US" sz="2000" b="1" dirty="0"/>
              <a:t>and </a:t>
            </a:r>
            <a:r>
              <a:rPr lang="en-US" sz="2000" dirty="0"/>
              <a:t>an adjacent nucleotide change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Iterate over each of the mutant codons identified in (1) and identify the start position in the codon which differs from wild-type (there are only 2 possible choices)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Using the position of change in each codon, extract the changing nucleotide pair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Locate probability from DBS table for nucleotide change from WT nucleotide pair to mutant nucleotide pair and add to current tally for amino acid change</a:t>
            </a:r>
          </a:p>
          <a:p>
            <a:pPr lvl="1"/>
            <a:r>
              <a:rPr lang="en-US" sz="2000" dirty="0"/>
              <a:t>If the nucleotide pair change is not in the table, take the reverse complement of each pair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Sum mutational probabilities per signature for each amino acid change</a:t>
            </a:r>
          </a:p>
        </p:txBody>
      </p:sp>
    </p:spTree>
    <p:extLst>
      <p:ext uri="{BB962C8B-B14F-4D97-AF65-F5344CB8AC3E}">
        <p14:creationId xmlns:p14="http://schemas.microsoft.com/office/powerpoint/2010/main" val="926378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414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KRAS Mutational Probability Methods</vt:lpstr>
      <vt:lpstr>Data and Definitions</vt:lpstr>
      <vt:lpstr>SNS and Non-Adjacent DNS Probability Method</vt:lpstr>
      <vt:lpstr>Adjacent DNS Probability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KRAS Mutational Probability Methods</dc:title>
  <dc:creator>Kapner, Kevin S.</dc:creator>
  <cp:lastModifiedBy>Julien Dilly</cp:lastModifiedBy>
  <cp:revision>6</cp:revision>
  <dcterms:created xsi:type="dcterms:W3CDTF">2023-02-09T18:46:48Z</dcterms:created>
  <dcterms:modified xsi:type="dcterms:W3CDTF">2023-02-14T15:16:50Z</dcterms:modified>
</cp:coreProperties>
</file>